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4" r:id="rId5"/>
    <p:sldId id="265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3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43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43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03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29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52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95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32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83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682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60DC2-37D2-42E8-A5F2-16C05AEC93C0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2B58D3F-9707-417E-9115-60C58D0312A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09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FDE38-0A81-40E2-8894-7B9DDFD27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510140"/>
            <a:ext cx="8637073" cy="106840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VERIDI LOGISTICS DELIVERY PERFORMANCE AUDIT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8F434-1467-4E0B-9191-BC62100B3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693" y="2000250"/>
            <a:ext cx="10573159" cy="198392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 Narrow" panose="020B0606020202030204" pitchFamily="34" charset="0"/>
              </a:rPr>
              <a:t>Prepared by:</a:t>
            </a:r>
            <a:r>
              <a:rPr lang="en-US" sz="2800" dirty="0">
                <a:latin typeface="Arial Narrow" panose="020B0606020202030204" pitchFamily="34" charset="0"/>
              </a:rPr>
              <a:t> Ushaw Seiba</a:t>
            </a:r>
          </a:p>
          <a:p>
            <a:r>
              <a:rPr lang="en-US" sz="2800" dirty="0" err="1">
                <a:latin typeface="Arial Narrow" panose="020B0606020202030204" pitchFamily="34" charset="0"/>
              </a:rPr>
              <a:t>AmaliTech</a:t>
            </a:r>
            <a:r>
              <a:rPr lang="en-US" sz="2800" dirty="0">
                <a:latin typeface="Arial Narrow" panose="020B0606020202030204" pitchFamily="34" charset="0"/>
              </a:rPr>
              <a:t> Data Analytics Capstone Project</a:t>
            </a:r>
          </a:p>
          <a:p>
            <a:pPr algn="just"/>
            <a:r>
              <a:rPr lang="en-US" sz="2800" b="1" dirty="0">
                <a:latin typeface="Arial Narrow" panose="020B0606020202030204" pitchFamily="34" charset="0"/>
              </a:rPr>
              <a:t>Tools Used: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Arial Narrow" panose="020B0606020202030204" pitchFamily="34" charset="0"/>
              </a:rPr>
              <a:t>Python (</a:t>
            </a:r>
            <a:r>
              <a:rPr lang="en-US" sz="2800" dirty="0" err="1">
                <a:latin typeface="Arial Narrow" panose="020B0606020202030204" pitchFamily="34" charset="0"/>
              </a:rPr>
              <a:t>pandas,numpy</a:t>
            </a:r>
            <a:r>
              <a:rPr lang="en-US" sz="2800" dirty="0">
                <a:latin typeface="Arial Narrow" panose="020B0606020202030204" pitchFamily="34" charset="0"/>
              </a:rPr>
              <a:t>, seaborn and matplotlib)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Arial Narrow" panose="020B0606020202030204" pitchFamily="34" charset="0"/>
              </a:rPr>
              <a:t>GitHub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Arial Narrow" panose="020B0606020202030204" pitchFamily="34" charset="0"/>
              </a:rPr>
              <a:t>Power BI (</a:t>
            </a:r>
            <a:r>
              <a:rPr lang="en-US" sz="2800" dirty="0" err="1">
                <a:latin typeface="Arial Narrow" panose="020B0606020202030204" pitchFamily="34" charset="0"/>
              </a:rPr>
              <a:t>dax</a:t>
            </a:r>
            <a:r>
              <a:rPr lang="en-US" sz="2800" dirty="0">
                <a:latin typeface="Arial Narrow" panose="020B0606020202030204" pitchFamily="34" charset="0"/>
              </a:rPr>
              <a:t>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4190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A3ABA-3105-4140-9127-B020615A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8DAF-08C1-4280-8E3A-C7CA54529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dirty="0">
                <a:latin typeface="Arial Narrow" panose="020B0606020202030204" pitchFamily="34" charset="0"/>
              </a:rPr>
              <a:t> </a:t>
            </a:r>
            <a:r>
              <a:rPr lang="en-US" sz="2600" dirty="0" err="1">
                <a:latin typeface="Arial Narrow" panose="020B0606020202030204" pitchFamily="34" charset="0"/>
              </a:rPr>
              <a:t>Veridi</a:t>
            </a:r>
            <a:r>
              <a:rPr lang="en-US" sz="2600" dirty="0">
                <a:latin typeface="Arial Narrow" panose="020B0606020202030204" pitchFamily="34" charset="0"/>
              </a:rPr>
              <a:t> Logistics observed an increase in negative customer reviews and suspected that inaccurate delivery estimates and delayed deliveries were affecting customer satisfaction.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b="1" dirty="0">
                <a:latin typeface="Arial Narrow" panose="020B0606020202030204" pitchFamily="34" charset="0"/>
              </a:rPr>
              <a:t>Project Objectives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Arial Narrow" panose="020B0606020202030204" pitchFamily="34" charset="0"/>
              </a:rPr>
              <a:t>Evaluate delivery performance.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Arial Narrow" panose="020B0606020202030204" pitchFamily="34" charset="0"/>
              </a:rPr>
              <a:t>Identify regions with high late-delivery rates.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Arial Narrow" panose="020B0606020202030204" pitchFamily="34" charset="0"/>
              </a:rPr>
              <a:t>Assess the impact of delivery delays on customer reviews.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600" dirty="0">
                <a:latin typeface="Arial Narrow" panose="020B0606020202030204" pitchFamily="34" charset="0"/>
              </a:rPr>
              <a:t>Develop an interactive dashboard to support business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2271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9B29-D0C3-4A87-B534-7CDF95902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Data Preparation &amp; Methodology</a:t>
            </a:r>
            <a:br>
              <a:rPr lang="en-US" dirty="0">
                <a:latin typeface="Arial Black" panose="020B0A040201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0FD06-29C9-4C83-99C2-64D08A00FD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Arial Narrow" panose="020B0606020202030204" pitchFamily="34" charset="0"/>
              </a:rPr>
              <a:t>Dataset Used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dataset was downloaded from Kaggle</a:t>
            </a:r>
            <a:endParaRPr lang="en-US" sz="2000" b="1" dirty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and sourced from the </a:t>
            </a:r>
            <a:r>
              <a:rPr lang="en-US" dirty="0" err="1"/>
              <a:t>Olist</a:t>
            </a:r>
            <a:r>
              <a:rPr lang="en-US" dirty="0"/>
              <a:t> Brazilian E-Commerce Dataset.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ED5F6-8A34-45E3-BABB-C870A0C8E6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Arial Narrow" panose="020B0606020202030204" pitchFamily="34" charset="0"/>
              </a:rPr>
              <a:t>Data Sources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analysis utilized multiple relational tables, including Orders, Customers, Reviews, Products, and Product Category Translation datasets.</a:t>
            </a:r>
            <a:endParaRPr lang="en-US" sz="2000" dirty="0">
              <a:latin typeface="Arial Narrow" panose="020B0606020202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>
                <a:latin typeface="Arial Narrow" panose="020B0606020202030204" pitchFamily="34" charset="0"/>
              </a:rPr>
              <a:t>Order_Items</a:t>
            </a:r>
            <a:r>
              <a:rPr lang="en-US" dirty="0">
                <a:latin typeface="Arial Narrow" panose="020B0606020202030204" pitchFamily="34" charset="0"/>
              </a:rPr>
              <a:t> Dataset</a:t>
            </a:r>
            <a:endParaRPr lang="en-US" sz="2000" dirty="0">
              <a:latin typeface="Arial Narrow" panose="020B0606020202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0695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2D22-4E5D-4E52-B18B-8A38F03F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Data Preparation &amp;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E8AF7-58AD-45B2-A2F4-388D2F2C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8480" y="2010878"/>
            <a:ext cx="5554003" cy="404223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Data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Merged multiple datasets using </a:t>
            </a:r>
            <a:r>
              <a:rPr lang="en-US" sz="2400" dirty="0" err="1">
                <a:latin typeface="Arial Narrow" panose="020B0606020202030204" pitchFamily="34" charset="0"/>
              </a:rPr>
              <a:t>order_id</a:t>
            </a:r>
            <a:r>
              <a:rPr lang="en-US" sz="2400" dirty="0">
                <a:latin typeface="Arial Narrow" panose="020B0606020202030204" pitchFamily="34" charset="0"/>
              </a:rPr>
              <a:t> and </a:t>
            </a:r>
            <a:r>
              <a:rPr lang="en-US" sz="2400" dirty="0" err="1">
                <a:latin typeface="Arial Narrow" panose="020B0606020202030204" pitchFamily="34" charset="0"/>
              </a:rPr>
              <a:t>customer_id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Handled missing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Converted date columns to datetime format.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Translated product categories from Portuguese to English.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C82BE-1322-4A77-B7BA-9BB4A820C2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Feature Engineering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Created: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 Narrow" panose="020B0606020202030204" pitchFamily="34" charset="0"/>
              </a:rPr>
              <a:t>Days_Difference</a:t>
            </a:r>
            <a:endParaRPr lang="en-US" sz="24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 Narrow" panose="020B0606020202030204" pitchFamily="34" charset="0"/>
              </a:rPr>
              <a:t>Delivery_Status</a:t>
            </a:r>
            <a:endParaRPr lang="en-US" sz="24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 Narrow" panose="020B0606020202030204" pitchFamily="34" charset="0"/>
              </a:rPr>
              <a:t>Late_Flag</a:t>
            </a:r>
            <a:endParaRPr lang="en-US" sz="2400" dirty="0">
              <a:latin typeface="Arial Narrow" panose="020B0606020202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Late Delivery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On-Time Delivery Rate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841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8799-D137-4FCE-A9B7-3458E2CC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Dashboard Overview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5A6F6D-9E66-414C-840F-110BD25437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16" y="2017343"/>
            <a:ext cx="5553810" cy="344152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8341D-A729-4124-A099-63237CEFC2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Dashboard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On-Time Delivery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 Delivery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Review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5 Late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States by Late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Review Score by Delivery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Orders by Delivery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760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AF137-9749-4A11-93D0-25CA8F4B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719853"/>
            <a:ext cx="9603275" cy="1049235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2186-1F91-4017-BD12-6F1216757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439334"/>
            <a:ext cx="11751734" cy="4216400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Arial Narrow" panose="020B0606020202030204" pitchFamily="34" charset="0"/>
              </a:rPr>
              <a:t>Delivery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Arial Narrow" panose="020B0606020202030204" pitchFamily="34" charset="0"/>
              </a:rPr>
              <a:t>Total Orders: 99,441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Arial Narrow" panose="020B0606020202030204" pitchFamily="34" charset="0"/>
              </a:rPr>
              <a:t>On-Time Delivery Rate: 92.3%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Arial Narrow" panose="020B0606020202030204" pitchFamily="34" charset="0"/>
              </a:rPr>
              <a:t>Late Delivery Rate: 7.7%</a:t>
            </a:r>
          </a:p>
          <a:p>
            <a:r>
              <a:rPr lang="en-US" sz="2200" b="1" dirty="0">
                <a:latin typeface="Arial Narrow" panose="020B0606020202030204" pitchFamily="34" charset="0"/>
              </a:rPr>
              <a:t>Geographic Analysis</a:t>
            </a:r>
          </a:p>
          <a:p>
            <a:r>
              <a:rPr lang="en-US" sz="2200" dirty="0">
                <a:latin typeface="Arial Narrow" panose="020B0606020202030204" pitchFamily="34" charset="0"/>
              </a:rPr>
              <a:t>Certain states recorded significantly higher late-delivery rates, indicating regional delivery challenges.</a:t>
            </a:r>
          </a:p>
          <a:p>
            <a:r>
              <a:rPr lang="en-US" sz="2200" b="1" dirty="0">
                <a:latin typeface="Arial Narrow" panose="020B0606020202030204" pitchFamily="34" charset="0"/>
              </a:rPr>
              <a:t>Product Categories</a:t>
            </a:r>
          </a:p>
          <a:p>
            <a:r>
              <a:rPr lang="en-US" sz="2200" dirty="0">
                <a:latin typeface="Arial Narrow" panose="020B0606020202030204" pitchFamily="34" charset="0"/>
              </a:rPr>
              <a:t>Home Comfort, Furniture &amp; Mattress, and Audio products experienced the highest delay rates.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7110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D0A9-DF75-42D6-A870-ECF61118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379" y="762186"/>
            <a:ext cx="9603275" cy="1049235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Customer Satisfaction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6BC43-3C85-4A2A-9410-3027125CE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405468"/>
            <a:ext cx="10140454" cy="4572000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 Narrow" panose="020B0606020202030204" pitchFamily="34" charset="0"/>
              </a:rPr>
              <a:t>Review Scores by Delivery Status</a:t>
            </a:r>
          </a:p>
          <a:p>
            <a:r>
              <a:rPr lang="en-US" dirty="0">
                <a:latin typeface="Arial Narrow" panose="020B0606020202030204" pitchFamily="34" charset="0"/>
              </a:rPr>
              <a:t>Average Review Scores: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On Time: 4.21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Late: 3.41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Super Late: 1.78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 Narrow" panose="020B0606020202030204" pitchFamily="34" charset="0"/>
              </a:rPr>
              <a:t>Not Delivered: 1.74</a:t>
            </a:r>
          </a:p>
          <a:p>
            <a:r>
              <a:rPr lang="en-US" b="1" dirty="0">
                <a:latin typeface="Arial Narrow" panose="020B0606020202030204" pitchFamily="34" charset="0"/>
              </a:rPr>
              <a:t>Key Insight</a:t>
            </a:r>
          </a:p>
          <a:p>
            <a:r>
              <a:rPr lang="en-US" dirty="0">
                <a:latin typeface="Arial Narrow" panose="020B0606020202030204" pitchFamily="34" charset="0"/>
              </a:rPr>
              <a:t>Customer satisfaction decreases significantly as delivery performance worsens.</a:t>
            </a:r>
          </a:p>
          <a:p>
            <a:r>
              <a:rPr lang="en-US" dirty="0">
                <a:latin typeface="Arial Narrow" panose="020B0606020202030204" pitchFamily="34" charset="0"/>
              </a:rPr>
              <a:t>This confirms that delivery delays are a major driver of negative customer reviews.</a:t>
            </a:r>
          </a:p>
          <a:p>
            <a:pPr marL="0" indent="0"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133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5769-FE44-4135-9EE0-3A5DE300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Recommendations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11B02-F034-4326-8884-0FE9AA84C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464734"/>
            <a:ext cx="9603275" cy="40016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 Narrow" panose="020B0606020202030204" pitchFamily="34" charset="0"/>
              </a:rPr>
              <a:t>Recommendations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Improve logistics planning for high-risk product categories.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Focus operational improvements on states with high delay rates.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Improve delivery monitoring and tracking systems.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Reduce delivery delays to improve customer satisfaction.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latin typeface="Arial Narrow" panose="020B0606020202030204" pitchFamily="34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>
                <a:latin typeface="Arial Narrow" panose="020B0606020202030204" pitchFamily="34" charset="0"/>
              </a:rPr>
              <a:t>Veridi</a:t>
            </a:r>
            <a:r>
              <a:rPr lang="en-US" dirty="0">
                <a:latin typeface="Arial Narrow" panose="020B0606020202030204" pitchFamily="34" charset="0"/>
              </a:rPr>
              <a:t> Logistics demonstrates strong overall delivery performance; however, targeted improvements in specific categories and regions can further reduce delays and improve customer experience.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rial Narrow" panose="020B0606020202030204" pitchFamily="34" charset="0"/>
              </a:rPr>
              <a:t>Thank You.</a:t>
            </a:r>
          </a:p>
          <a:p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7426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403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Arial Narrow</vt:lpstr>
      <vt:lpstr>Gill Sans MT</vt:lpstr>
      <vt:lpstr>Wingdings</vt:lpstr>
      <vt:lpstr>Gallery</vt:lpstr>
      <vt:lpstr>VERIDI LOGISTICS DELIVERY PERFORMANCE AUDIT</vt:lpstr>
      <vt:lpstr>Problem Statement</vt:lpstr>
      <vt:lpstr>Data Preparation &amp; Methodology </vt:lpstr>
      <vt:lpstr>Data Preparation &amp; Methodology</vt:lpstr>
      <vt:lpstr>Dashboard Overview</vt:lpstr>
      <vt:lpstr>Key Findings</vt:lpstr>
      <vt:lpstr>Customer Satisfaction Analysis</vt:lpstr>
      <vt:lpstr>Recommendations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VERIDI LOGISTICS DELIVERY PERFORMANCE AUDIT</dc:title>
  <dc:creator>ushaw seiba</dc:creator>
  <cp:lastModifiedBy>ushaw seiba</cp:lastModifiedBy>
  <cp:revision>13</cp:revision>
  <dcterms:created xsi:type="dcterms:W3CDTF">2026-06-18T19:16:21Z</dcterms:created>
  <dcterms:modified xsi:type="dcterms:W3CDTF">2026-06-18T21:29:20Z</dcterms:modified>
</cp:coreProperties>
</file>